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0" r:id="rId8"/>
    <p:sldId id="263" r:id="rId9"/>
    <p:sldId id="264" r:id="rId10"/>
    <p:sldId id="265" r:id="rId11"/>
    <p:sldId id="266" r:id="rId12"/>
    <p:sldId id="291" r:id="rId13"/>
    <p:sldId id="268" r:id="rId14"/>
    <p:sldId id="269" r:id="rId15"/>
    <p:sldId id="270" r:id="rId16"/>
    <p:sldId id="271" r:id="rId17"/>
    <p:sldId id="272" r:id="rId18"/>
    <p:sldId id="273" r:id="rId19"/>
    <p:sldId id="292" r:id="rId20"/>
    <p:sldId id="276" r:id="rId21"/>
    <p:sldId id="277" r:id="rId22"/>
    <p:sldId id="278" r:id="rId23"/>
    <p:sldId id="293" r:id="rId24"/>
    <p:sldId id="280" r:id="rId25"/>
    <p:sldId id="281" r:id="rId26"/>
    <p:sldId id="282" r:id="rId27"/>
    <p:sldId id="286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876" y="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figma.com/design/RSSEHHNXarZwMFraZsprJt/Shaml--UX-Prototype?node-id=1-3&amp;p=f&amp;t=2ndcRF6SvHBY8xx2-0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figma.com/design/RSSEHHNXarZwMFraZsprJt/Shaml--UX-Prototype?node-id=1-4&amp;p=f&amp;t=2ndcRF6SvHBY8xx2-0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figma.com/design/RSSEHHNXarZwMFraZsprJt/Shaml--UX-Prototype?node-id=1-5&amp;p=f&amp;t=flsghTplV6uXWO97-0" TargetMode="Externa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828800" cy="685800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Shaml+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960120"/>
            <a:ext cx="2788920" cy="43313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06040" y="14173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300" b="1">
                <a:solidFill>
                  <a:srgbClr val="0C304C"/>
                </a:solidFill>
                <a:latin typeface="Aptos Display"/>
              </a:defRPr>
            </a:pPr>
            <a:r>
              <a:t>A User-Centered</a:t>
            </a:r>
            <a:br/>
            <a:r>
              <a:t>Digital System for</a:t>
            </a:r>
            <a:br/>
            <a:r>
              <a:t>External Child Visits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33472" y="3291840"/>
            <a:ext cx="1051560" cy="64008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0604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B76"/>
                </a:solidFill>
                <a:latin typeface="Aptos"/>
              </a:defRPr>
            </a:pPr>
            <a:r>
              <a:t>Graduation Project Defense | HCI3502T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41605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5F6770"/>
                </a:solidFill>
                <a:latin typeface="Aptos"/>
              </a:defRPr>
            </a:pPr>
            <a:r>
              <a:t>Umm Al-Qura University - College of Computing</a:t>
            </a:r>
            <a:br/>
            <a:r>
              <a:t>BSc in Human-Computer Interaction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5257800"/>
            <a:ext cx="8229600" cy="822960"/>
          </a:xfrm>
          <a:prstGeom prst="roundRect">
            <a:avLst/>
          </a:prstGeom>
          <a:solidFill>
            <a:srgbClr val="FFFBF0"/>
          </a:solidFill>
          <a:ln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06040" y="5257800"/>
            <a:ext cx="73152" cy="82296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7208" y="5349240"/>
            <a:ext cx="7909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C304C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5696712"/>
            <a:ext cx="7909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3282D"/>
                </a:solidFill>
                <a:latin typeface="Aptos"/>
              </a:defRPr>
            </a:pPr>
            <a:r>
              <a:t>Sham Khalid Aldossari, Hajar Abdulaziz Alharthi, Lina Abdullah Alasmari, Eshraq Osama Faqeha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217000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 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OPENING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rPr dirty="0"/>
              <a:t>Storyline &amp; Time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685800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1600" b="1">
                <a:solidFill>
                  <a:srgbClr val="007B76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40080" y="2537459"/>
            <a:ext cx="1920240" cy="132588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537459"/>
            <a:ext cx="73152" cy="132588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2647187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040379"/>
            <a:ext cx="1600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82D"/>
                </a:solidFill>
                <a:latin typeface="Aptos"/>
              </a:defRPr>
            </a:pPr>
            <a:r>
              <a:t>Problem, motivation,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1" y="3387851"/>
            <a:ext cx="45720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>
                <a:solidFill>
                  <a:srgbClr val="F1B22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537459"/>
            <a:ext cx="1920240" cy="132588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80360" y="2537459"/>
            <a:ext cx="73152" cy="132588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81528" y="2647187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Research &amp;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1528" y="3040379"/>
            <a:ext cx="1600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82D"/>
                </a:solidFill>
                <a:latin typeface="Aptos"/>
              </a:defRPr>
            </a:pPr>
            <a:r>
              <a:t>Current state, findings, personas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3387851"/>
            <a:ext cx="45720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>
                <a:solidFill>
                  <a:srgbClr val="F1B22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2537459"/>
            <a:ext cx="1920240" cy="132588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20640" y="2537459"/>
            <a:ext cx="73152" cy="132588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21808" y="2647187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Design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3040379"/>
            <a:ext cx="1600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82D"/>
                </a:solidFill>
                <a:latin typeface="Aptos"/>
              </a:defRPr>
            </a:pPr>
            <a:r>
              <a:t>Architecture, apps,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3387851"/>
            <a:ext cx="45720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>
                <a:solidFill>
                  <a:srgbClr val="F1B22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2537459"/>
            <a:ext cx="1920240" cy="132588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60920" y="2537459"/>
            <a:ext cx="73152" cy="132588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62088" y="2647187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2088" y="3040379"/>
            <a:ext cx="1600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82D"/>
                </a:solidFill>
                <a:latin typeface="Aptos"/>
              </a:defRPr>
            </a:pPr>
            <a:r>
              <a:t>Usability testing and iteration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4072" y="3387851"/>
            <a:ext cx="45720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>
                <a:solidFill>
                  <a:srgbClr val="F1B22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2537459"/>
            <a:ext cx="1920240" cy="132588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601200" y="2537459"/>
            <a:ext cx="73152" cy="132588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02368" y="2647187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3040379"/>
            <a:ext cx="1600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82D"/>
                </a:solidFill>
                <a:latin typeface="Aptos"/>
              </a:defRPr>
            </a:pPr>
            <a:r>
              <a:t>Results, limitations, future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3387851"/>
            <a:ext cx="45720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>
                <a:solidFill>
                  <a:srgbClr val="F1B22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B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01400" y="411480"/>
            <a:ext cx="1645920" cy="1645920"/>
          </a:xfrm>
          <a:prstGeom prst="ellipse">
            <a:avLst/>
          </a:prstGeom>
          <a:solidFill>
            <a:srgbClr val="1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5120640"/>
            <a:ext cx="2377440" cy="2377440"/>
          </a:xfrm>
          <a:prstGeom prst="ellipse">
            <a:avLst/>
          </a:prstGeom>
          <a:solidFill>
            <a:srgbClr val="1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0" y="6126480"/>
            <a:ext cx="1097280" cy="1097280"/>
          </a:xfrm>
          <a:prstGeom prst="ellipse">
            <a:avLst/>
          </a:prstGeom>
          <a:solidFill>
            <a:srgbClr val="EEB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2801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F1B22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78638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Project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76809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E2F1F0"/>
                </a:solidFill>
                <a:latin typeface="Aptos"/>
              </a:defRPr>
            </a:pPr>
            <a:r>
              <a:t>Why Shaml+ matters and what problem it solves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9B1E5F-DCB1-AF30-3F4E-12B4D88A02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921240" y="274955"/>
            <a:ext cx="1280160" cy="16452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DBFE76-75EE-6049-6A7F-769C1157BE0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847262" y="1856740"/>
            <a:ext cx="1428115" cy="401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217000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 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716255"/>
            <a:ext cx="3200400" cy="1234440"/>
          </a:xfrm>
          <a:prstGeom prst="roundRect">
            <a:avLst/>
          </a:prstGeom>
          <a:solidFill>
            <a:srgbClr val="E0F4F1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716255"/>
            <a:ext cx="73152" cy="123444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1825983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19175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A connected digital ecosystem for managing external child visits in separated-family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716255"/>
            <a:ext cx="3200400" cy="123444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716255"/>
            <a:ext cx="73152" cy="123444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1825983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Main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219175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Reduce confusion, repeated follow-up, emotional stress, and administrative fragmentation.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716255"/>
            <a:ext cx="3154680" cy="123444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01000" y="1716255"/>
            <a:ext cx="73152" cy="123444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02168" y="1825983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Product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219175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Parent app, child app, admin dashboard, smartwatch interface, and unified design system.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3499335"/>
            <a:ext cx="466344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05840" y="3499335"/>
            <a:ext cx="73152" cy="74980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07008" y="3609063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Parents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4002255"/>
            <a:ext cx="434340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82D"/>
                </a:solidFill>
                <a:latin typeface="Aptos"/>
              </a:defRPr>
            </a:pPr>
            <a:r>
              <a:t>Request, confirm, track, communicate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26348" y="3499335"/>
            <a:ext cx="466344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26348" y="3499335"/>
            <a:ext cx="73152" cy="749808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53718" y="3604601"/>
            <a:ext cx="465534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rPr dirty="0"/>
              <a:t>Child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7515" y="4002255"/>
            <a:ext cx="434340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82D"/>
                </a:solidFill>
                <a:latin typeface="Aptos"/>
              </a:defRPr>
            </a:pPr>
            <a:r>
              <a:t>Prepare emotionally, understand visit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4459455"/>
            <a:ext cx="466344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05840" y="4459455"/>
            <a:ext cx="73152" cy="74980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07008" y="4569183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Admin / Staff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8" y="4962375"/>
            <a:ext cx="434340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82D"/>
                </a:solidFill>
                <a:latin typeface="Aptos"/>
              </a:defRPr>
            </a:pPr>
            <a:r>
              <a:t>Manage visits, requests,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26348" y="4459455"/>
            <a:ext cx="466344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26348" y="4459455"/>
            <a:ext cx="73152" cy="74980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27515" y="4569183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Smartwatch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7515" y="4962375"/>
            <a:ext cx="434340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82D"/>
                </a:solidFill>
                <a:latin typeface="Aptos"/>
              </a:defRPr>
            </a:pPr>
            <a:r>
              <a:t>Quick reminder, mood check, help</a:t>
            </a:r>
          </a:p>
        </p:txBody>
      </p:sp>
      <p:sp>
        <p:nvSpPr>
          <p:cNvPr id="38" name="Oval 37"/>
          <p:cNvSpPr/>
          <p:nvPr/>
        </p:nvSpPr>
        <p:spPr>
          <a:xfrm>
            <a:off x="5134709" y="3590776"/>
            <a:ext cx="1828800" cy="1828800"/>
          </a:xfrm>
          <a:prstGeom prst="ellipse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5285232" y="4249143"/>
            <a:ext cx="1417320" cy="45720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</a:t>
            </a:r>
            <a:br>
              <a:rPr dirty="0"/>
            </a:br>
            <a:r>
              <a:rPr dirty="0"/>
              <a:t>Ecosystem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199367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Problem &amp; Motivation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105156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0">
                <a:solidFill>
                  <a:srgbClr val="23282D"/>
                </a:solidFill>
                <a:latin typeface="Aptos"/>
              </a:defRPr>
            </a:pPr>
            <a:r>
              <a:t>Current external visitation is more than an appointment. It is a sensitive family experience that needs coordination, privacy, emotional readiness, and reliable status visibility.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14600"/>
            <a:ext cx="5074920" cy="105156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514600"/>
            <a:ext cx="73152" cy="1051560"/>
          </a:xfrm>
          <a:prstGeom prst="rect">
            <a:avLst/>
          </a:prstGeom>
          <a:solidFill>
            <a:srgbClr val="CD4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" y="262432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Fragmented 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017520"/>
            <a:ext cx="47548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82D"/>
                </a:solidFill>
                <a:latin typeface="Aptos"/>
              </a:defRPr>
            </a:pPr>
            <a:r>
              <a:t>Najiz, Excel/cloud files, calls, messages, and manual follow-up create repeated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514600"/>
            <a:ext cx="5074920" cy="1051560"/>
          </a:xfrm>
          <a:prstGeom prst="roundRect">
            <a:avLst/>
          </a:prstGeom>
          <a:solidFill>
            <a:srgbClr val="FFFCF4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2514600"/>
            <a:ext cx="73152" cy="1051560"/>
          </a:xfrm>
          <a:prstGeom prst="rect">
            <a:avLst/>
          </a:prstGeom>
          <a:solidFill>
            <a:srgbClr val="CD4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7" y="262432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Unclear visit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3017520"/>
            <a:ext cx="47548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82D"/>
                </a:solidFill>
                <a:latin typeface="Aptos"/>
              </a:defRPr>
            </a:pPr>
            <a:r>
              <a:t>Parents may not know if a request is pending, confirmed, changed, or completed.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31920"/>
            <a:ext cx="5074920" cy="105156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3931920"/>
            <a:ext cx="73152" cy="105156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" y="40416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Child emotional stress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434840"/>
            <a:ext cx="47548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82D"/>
                </a:solidFill>
                <a:latin typeface="Aptos"/>
              </a:defRPr>
            </a:pPr>
            <a:r>
              <a:t>Children may feel anxious when plans are unclear or preparation is weak.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931920"/>
            <a:ext cx="5074920" cy="1051560"/>
          </a:xfrm>
          <a:prstGeom prst="roundRect">
            <a:avLst/>
          </a:prstGeom>
          <a:solidFill>
            <a:srgbClr val="FFFCF4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3931920"/>
            <a:ext cx="73152" cy="105156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64807" y="40416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Data &amp; safety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4434840"/>
            <a:ext cx="47548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82D"/>
                </a:solidFill>
                <a:latin typeface="Aptos"/>
              </a:defRPr>
            </a:pPr>
            <a:r>
              <a:t>Similar names, unclear judgment times, missing health or medication details can affect accuracy and safety.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505744"/>
            <a:ext cx="10561320" cy="594360"/>
          </a:xfrm>
          <a:prstGeom prst="roundRect">
            <a:avLst/>
          </a:prstGeom>
          <a:solidFill>
            <a:srgbClr val="E0F4F1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5505744"/>
            <a:ext cx="73152" cy="59436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8408" y="561547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Design challenge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5938327"/>
            <a:ext cx="10241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82D"/>
                </a:solidFill>
                <a:latin typeface="Aptos"/>
              </a:defRPr>
            </a:pPr>
            <a:r>
              <a:rPr dirty="0"/>
              <a:t>How can we make a legal/social-service workflow feel clear, safe, and emotionally supportive without exposing sensitive family information?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260281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Target Users &amp; Main Needs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718016"/>
            <a:ext cx="3337560" cy="1554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718016"/>
            <a:ext cx="73152" cy="155448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182774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304C"/>
                </a:solidFill>
                <a:latin typeface="Aptos"/>
              </a:defRPr>
            </a:pPr>
            <a:r>
              <a:t>Parents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220936"/>
            <a:ext cx="30175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82D"/>
                </a:solidFill>
                <a:latin typeface="Aptos"/>
              </a:defRPr>
            </a:pPr>
            <a:r>
              <a:t>Clear visit information, status transparency, safe communication, reminders, and support 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718016"/>
            <a:ext cx="3337560" cy="1554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1718016"/>
            <a:ext cx="73152" cy="155448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27448" y="182774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304C"/>
                </a:solidFill>
                <a:latin typeface="Aptos"/>
              </a:defRPr>
            </a:pPr>
            <a:r>
              <a:t>Children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220936"/>
            <a:ext cx="30175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82D"/>
                </a:solidFill>
                <a:latin typeface="Aptos"/>
              </a:defRPr>
            </a:pPr>
            <a:r>
              <a:t>Simple language, emotional reassurance, visit preparation, rewards, and child-friendly guidance.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718016"/>
            <a:ext cx="3337560" cy="1554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1040" y="1718016"/>
            <a:ext cx="73152" cy="155448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22208" y="182774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304C"/>
                </a:solidFill>
                <a:latin typeface="Aptos"/>
              </a:defRPr>
            </a:pPr>
            <a:r>
              <a:t>Admins / Supervisors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220936"/>
            <a:ext cx="30175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82D"/>
                </a:solidFill>
                <a:latin typeface="Aptos"/>
              </a:defRPr>
            </a:pPr>
            <a:r>
              <a:t>Fast overview, accurate case details, controlled actions, searchable records, and reliable notifications.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4049736"/>
            <a:ext cx="1874519" cy="658368"/>
          </a:xfrm>
          <a:prstGeom prst="round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Trust &amp; privacy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4049736"/>
            <a:ext cx="1874519" cy="658368"/>
          </a:xfrm>
          <a:prstGeom prst="round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Status clarity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049736"/>
            <a:ext cx="1874519" cy="658368"/>
          </a:xfrm>
          <a:prstGeom prst="roundRect">
            <a:avLst/>
          </a:prstGeom>
          <a:solidFill>
            <a:srgbClr val="00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Child readiness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4049736"/>
            <a:ext cx="1874519" cy="658368"/>
          </a:xfrm>
          <a:prstGeom prst="roundRect">
            <a:avLst/>
          </a:prstGeom>
          <a:solidFill>
            <a:srgbClr val="0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Operational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29896"/>
            <a:ext cx="10058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0C304C"/>
                </a:solidFill>
                <a:latin typeface="Aptos"/>
              </a:defRPr>
            </a:pPr>
            <a:r>
              <a:t>The solution must serve all roles without treating the child as only a passive part of the process.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B7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C5E98-F055-0E15-B35D-9CA4ED89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F4C223-EC60-EB9F-0E3C-E9A75BC1F49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58D1E9B-485D-D2A8-5948-57B669D5E918}"/>
              </a:ext>
            </a:extLst>
          </p:cNvPr>
          <p:cNvSpPr/>
          <p:nvPr/>
        </p:nvSpPr>
        <p:spPr>
          <a:xfrm>
            <a:off x="11201400" y="411480"/>
            <a:ext cx="1645920" cy="1645920"/>
          </a:xfrm>
          <a:prstGeom prst="ellipse">
            <a:avLst/>
          </a:prstGeom>
          <a:solidFill>
            <a:srgbClr val="1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7956FC5-EE64-6B55-7FCB-62C85762D0AE}"/>
              </a:ext>
            </a:extLst>
          </p:cNvPr>
          <p:cNvSpPr/>
          <p:nvPr/>
        </p:nvSpPr>
        <p:spPr>
          <a:xfrm>
            <a:off x="9601200" y="5120640"/>
            <a:ext cx="2377440" cy="2377440"/>
          </a:xfrm>
          <a:prstGeom prst="ellipse">
            <a:avLst/>
          </a:prstGeom>
          <a:solidFill>
            <a:srgbClr val="1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AB14F55-B28A-0E88-000C-9A664F1F3A54}"/>
              </a:ext>
            </a:extLst>
          </p:cNvPr>
          <p:cNvSpPr/>
          <p:nvPr/>
        </p:nvSpPr>
        <p:spPr>
          <a:xfrm>
            <a:off x="11430000" y="6126480"/>
            <a:ext cx="1097280" cy="1097280"/>
          </a:xfrm>
          <a:prstGeom prst="ellipse">
            <a:avLst/>
          </a:prstGeom>
          <a:solidFill>
            <a:srgbClr val="EEB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C4B19E-1465-8264-642E-9D22289C5ECF}"/>
              </a:ext>
            </a:extLst>
          </p:cNvPr>
          <p:cNvSpPr txBox="1"/>
          <p:nvPr/>
        </p:nvSpPr>
        <p:spPr>
          <a:xfrm>
            <a:off x="822960" y="914400"/>
            <a:ext cx="12801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>
                <a:solidFill>
                  <a:srgbClr val="F1B227"/>
                </a:solidFill>
                <a:latin typeface="Aptos"/>
              </a:defRPr>
            </a:pP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F1B2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1B2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1B227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02283-5E4F-22EF-11EA-4D96158E8688}"/>
              </a:ext>
            </a:extLst>
          </p:cNvPr>
          <p:cNvSpPr txBox="1"/>
          <p:nvPr/>
        </p:nvSpPr>
        <p:spPr>
          <a:xfrm>
            <a:off x="822960" y="1920240"/>
            <a:ext cx="78638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US" dirty="0"/>
              <a:t>Research &amp; Current-State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74E9A4-D682-6983-B38B-47EAC820D307}"/>
              </a:ext>
            </a:extLst>
          </p:cNvPr>
          <p:cNvSpPr txBox="1"/>
          <p:nvPr/>
        </p:nvSpPr>
        <p:spPr>
          <a:xfrm>
            <a:off x="868680" y="2788920"/>
            <a:ext cx="76809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E2F1F0"/>
                </a:solidFill>
                <a:latin typeface="Aptos"/>
              </a:defRPr>
            </a:pPr>
            <a:r>
              <a:rPr lang="en-US" dirty="0"/>
              <a:t>Evidence used to define the design direction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BA19D9-080E-0B04-7F2B-9B441AF248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921240" y="274955"/>
            <a:ext cx="1280160" cy="16452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714CB7-62F6-0A7E-9FCA-EADFE284DBF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847262" y="1856740"/>
            <a:ext cx="1428115" cy="40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754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217000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 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Research Evidence &amp; Study Boundaries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695153"/>
            <a:ext cx="3566160" cy="1234440"/>
          </a:xfrm>
          <a:prstGeom prst="roundRect">
            <a:avLst/>
          </a:prstGeom>
          <a:solidFill>
            <a:srgbClr val="E0F4F1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695153"/>
            <a:ext cx="73152" cy="123444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180488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Field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98073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82D"/>
                </a:solidFill>
                <a:latin typeface="Aptos"/>
              </a:defRPr>
            </a:pPr>
            <a:r>
              <a:t>One semi-structured interview with a Shaml-related social worker / family visit coordinator.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695153"/>
            <a:ext cx="3566160" cy="123444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60" y="1695153"/>
            <a:ext cx="73152" cy="123444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1728" y="180488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Document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198073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82D"/>
                </a:solidFill>
                <a:latin typeface="Aptos"/>
              </a:defRPr>
            </a:pPr>
            <a:r>
              <a:t>Al-Mawaddah Impact Story 2024 and Shaml Center service indicators.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95153"/>
            <a:ext cx="3108960" cy="123444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1040" y="1695153"/>
            <a:ext cx="73152" cy="123444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22208" y="1804880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Comparative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198073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82D"/>
                </a:solidFill>
                <a:latin typeface="Aptos"/>
              </a:defRPr>
            </a:pPr>
            <a:r>
              <a:t>Existing service and appointment platforms used to identify UX gaps.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432513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1300">
                <a:solidFill>
                  <a:srgbClr val="23282D"/>
                </a:solidFill>
                <a:latin typeface="Aptos"/>
              </a:defRPr>
            </a:pPr>
            <a:r>
              <a:t>The research is transparent: parents and children were not directly interviewed in this phase.</a:t>
            </a:r>
          </a:p>
          <a:p>
            <a:pPr>
              <a:buChar char="•"/>
              <a:defRPr sz="1300">
                <a:solidFill>
                  <a:srgbClr val="23282D"/>
                </a:solidFill>
                <a:latin typeface="Aptos"/>
              </a:defRPr>
            </a:pPr>
            <a:r>
              <a:t>Personas are inferred design representations, not direct participants.</a:t>
            </a:r>
          </a:p>
          <a:p>
            <a:pPr>
              <a:buChar char="•"/>
              <a:defRPr sz="1300">
                <a:solidFill>
                  <a:srgbClr val="23282D"/>
                </a:solidFill>
                <a:latin typeface="Aptos"/>
              </a:defRPr>
            </a:pPr>
            <a:r>
              <a:t>Findings are preliminary and should be validated with more staff and parent participants.</a:t>
            </a:r>
          </a:p>
        </p:txBody>
      </p:sp>
      <p:pic>
        <p:nvPicPr>
          <p:cNvPr id="23" name="Picture 22" descr="theme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187" y="3112473"/>
            <a:ext cx="4549864" cy="228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46520" y="5581353"/>
            <a:ext cx="5029200" cy="4114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1150" b="0">
                <a:solidFill>
                  <a:srgbClr val="5F6770"/>
                </a:solidFill>
                <a:latin typeface="Aptos"/>
              </a:defRPr>
            </a:pPr>
            <a:r>
              <a:t>Theme evidence helped translate qualitative findings into requirements, not claim statistical saturation.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199367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Current Journey: Where the Friction Happens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1788355"/>
            <a:ext cx="1325880" cy="594360"/>
          </a:xfrm>
          <a:prstGeom prst="round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Judgment received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74155"/>
            <a:ext cx="1325880" cy="2286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950" b="1">
                <a:solidFill>
                  <a:srgbClr val="23282D"/>
                </a:solidFill>
                <a:latin typeface="Aptos"/>
              </a:defRPr>
            </a:pPr>
            <a:r>
              <a:t>Uncertainty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47088" y="1952947"/>
            <a:ext cx="347472" cy="228600"/>
          </a:xfrm>
          <a:prstGeom prst="rightArrow">
            <a:avLst/>
          </a:prstGeom>
          <a:solidFill>
            <a:srgbClr val="D6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221992" y="1788355"/>
            <a:ext cx="1325880" cy="594360"/>
          </a:xfrm>
          <a:prstGeom prst="round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Case notification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1992" y="2474155"/>
            <a:ext cx="1325880" cy="2286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950" b="1">
                <a:solidFill>
                  <a:srgbClr val="23282D"/>
                </a:solidFill>
                <a:latin typeface="Aptos"/>
              </a:defRPr>
            </a:pPr>
            <a:r>
              <a:t>Pressure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474720" y="1952947"/>
            <a:ext cx="347472" cy="228600"/>
          </a:xfrm>
          <a:prstGeom prst="rightArrow">
            <a:avLst/>
          </a:prstGeom>
          <a:solidFill>
            <a:srgbClr val="D6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49624" y="1788355"/>
            <a:ext cx="1325880" cy="594360"/>
          </a:xfrm>
          <a:prstGeom prst="round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9624" y="2474155"/>
            <a:ext cx="1325880" cy="2286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950" b="1">
                <a:solidFill>
                  <a:srgbClr val="23282D"/>
                </a:solidFill>
                <a:latin typeface="Aptos"/>
              </a:defRPr>
            </a:pPr>
            <a:r>
              <a:t>Concern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102352" y="1952947"/>
            <a:ext cx="347472" cy="228600"/>
          </a:xfrm>
          <a:prstGeom prst="rightArrow">
            <a:avLst/>
          </a:prstGeom>
          <a:solidFill>
            <a:srgbClr val="D6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77256" y="1788355"/>
            <a:ext cx="1325880" cy="594360"/>
          </a:xfrm>
          <a:prstGeom prst="round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Scheduling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7256" y="2474155"/>
            <a:ext cx="1325880" cy="2286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950" b="1">
                <a:solidFill>
                  <a:srgbClr val="23282D"/>
                </a:solidFill>
                <a:latin typeface="Aptos"/>
              </a:defRPr>
            </a:pPr>
            <a:r>
              <a:t>Stress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729984" y="1952947"/>
            <a:ext cx="347472" cy="228600"/>
          </a:xfrm>
          <a:prstGeom prst="rightArrow">
            <a:avLst/>
          </a:prstGeom>
          <a:solidFill>
            <a:srgbClr val="D6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104888" y="1788355"/>
            <a:ext cx="1325880" cy="594360"/>
          </a:xfrm>
          <a:prstGeom prst="round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Coordination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2474155"/>
            <a:ext cx="1325880" cy="2286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950" b="1">
                <a:solidFill>
                  <a:srgbClr val="23282D"/>
                </a:solidFill>
                <a:latin typeface="Aptos"/>
              </a:defRPr>
            </a:pPr>
            <a:r>
              <a:t>Tension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357616" y="1952947"/>
            <a:ext cx="347472" cy="228600"/>
          </a:xfrm>
          <a:prstGeom prst="rightArrow">
            <a:avLst/>
          </a:prstGeom>
          <a:solidFill>
            <a:srgbClr val="D6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732520" y="1788355"/>
            <a:ext cx="1325880" cy="594360"/>
          </a:xfrm>
          <a:prstGeom prst="round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Visit 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474155"/>
            <a:ext cx="1325880" cy="2286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950" b="1">
                <a:solidFill>
                  <a:srgbClr val="23282D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985248" y="1952947"/>
            <a:ext cx="347472" cy="228600"/>
          </a:xfrm>
          <a:prstGeom prst="rightArrow">
            <a:avLst/>
          </a:prstGeom>
          <a:solidFill>
            <a:srgbClr val="D6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360152" y="1788355"/>
            <a:ext cx="1325880" cy="594360"/>
          </a:xfrm>
          <a:prstGeom prst="round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Follow-up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2474155"/>
            <a:ext cx="1325880" cy="2286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950" b="1">
                <a:solidFill>
                  <a:srgbClr val="23282D"/>
                </a:solidFill>
                <a:latin typeface="Aptos"/>
              </a:defRPr>
            </a:pPr>
            <a:r>
              <a:t>Frustration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479995"/>
            <a:ext cx="3291840" cy="150876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3479995"/>
            <a:ext cx="73152" cy="150876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3589723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Main insight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982915"/>
            <a:ext cx="29718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The problem is not only scheduling; it includes parent conflict, child preparation, missing safety information, and data accuracy.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479995"/>
            <a:ext cx="3291840" cy="150876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434840" y="3479995"/>
            <a:ext cx="73152" cy="150876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36007" y="3589723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Emotional dimension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6007" y="3982915"/>
            <a:ext cx="29718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The journey must reduce pressure and uncertainty, not only complete a task.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3479995"/>
            <a:ext cx="3154680" cy="1508760"/>
          </a:xfrm>
          <a:prstGeom prst="roundRect">
            <a:avLst/>
          </a:prstGeom>
          <a:solidFill>
            <a:srgbClr val="E0F4F1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38160" y="3479995"/>
            <a:ext cx="73152" cy="150876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39328" y="3589723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Opportunity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3982915"/>
            <a:ext cx="283464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Create one trusted source of information with guided, role-based experiences.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199367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Secondary Indicators: Why the Service Needs Better Digital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ndicator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1" y="1604037"/>
            <a:ext cx="5760720" cy="27671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20840" y="1769015"/>
            <a:ext cx="4434840" cy="86868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1769015"/>
            <a:ext cx="73152" cy="86868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22007" y="1878743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16,587 services provided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7" y="2271935"/>
            <a:ext cx="41148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Services exceeded the target, showing repeated service interactions and the need for organized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2866295"/>
            <a:ext cx="4434840" cy="86868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20840" y="2866295"/>
            <a:ext cx="73152" cy="86868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22007" y="2976023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100% complaint/request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7" y="3369215"/>
            <a:ext cx="41148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The system should make response status visible to users, not only handled internally.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3963575"/>
            <a:ext cx="4434840" cy="86868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20840" y="3963575"/>
            <a:ext cx="73152" cy="86868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22007" y="4073303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67% satisfaction vs 70%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7" y="4466495"/>
            <a:ext cx="41148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The service is strong, but UX can improve clarity, tracking, and emotional support.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26615"/>
            <a:ext cx="10058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0">
                <a:solidFill>
                  <a:srgbClr val="5F6770"/>
                </a:solidFill>
                <a:latin typeface="Aptos"/>
              </a:defRPr>
            </a:pPr>
            <a:r>
              <a:t>Secondary quantitative indicators were used as supporting evidence, not project survey results.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217000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 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Persona-Driven Design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725056"/>
            <a:ext cx="502920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725056"/>
            <a:ext cx="73152" cy="123444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1834784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Sara - Mother / caregiver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227976"/>
            <a:ext cx="4709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Needs confirmation, reminders, safe communication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25056"/>
            <a:ext cx="502920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725056"/>
            <a:ext cx="73152" cy="123444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1834784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Khalid - Father / co-parent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227976"/>
            <a:ext cx="4709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Needs simple scheduling and transparent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16696"/>
            <a:ext cx="502920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416696"/>
            <a:ext cx="73152" cy="123444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526424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Omar - Child / indirect 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919616"/>
            <a:ext cx="4709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Needs predictability, calm preparation, simple language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416696"/>
            <a:ext cx="502920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416696"/>
            <a:ext cx="73152" cy="123444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3526424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Maha - Staff / coordinator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919616"/>
            <a:ext cx="4709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Needs dashboard, case IDs, validation, activity logs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94960"/>
            <a:ext cx="10058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0C304C"/>
                </a:solidFill>
                <a:latin typeface="Aptos"/>
              </a:defRPr>
            </a:pPr>
            <a:r>
              <a:t>Personas are used as design representations derived from research evidence, not as direct interview participants.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B7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2EF69-7DED-89BA-5232-C6DA69546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29A114-5E67-57E1-2E59-2E61912C44C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C860F6B-0B03-536D-9BB8-5E2CFB939E00}"/>
              </a:ext>
            </a:extLst>
          </p:cNvPr>
          <p:cNvSpPr/>
          <p:nvPr/>
        </p:nvSpPr>
        <p:spPr>
          <a:xfrm>
            <a:off x="11201400" y="411480"/>
            <a:ext cx="1645920" cy="1645920"/>
          </a:xfrm>
          <a:prstGeom prst="ellipse">
            <a:avLst/>
          </a:prstGeom>
          <a:solidFill>
            <a:srgbClr val="1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81870D4-DB32-96FD-F21B-9B3C3D870496}"/>
              </a:ext>
            </a:extLst>
          </p:cNvPr>
          <p:cNvSpPr/>
          <p:nvPr/>
        </p:nvSpPr>
        <p:spPr>
          <a:xfrm>
            <a:off x="9601200" y="5120640"/>
            <a:ext cx="2377440" cy="2377440"/>
          </a:xfrm>
          <a:prstGeom prst="ellipse">
            <a:avLst/>
          </a:prstGeom>
          <a:solidFill>
            <a:srgbClr val="1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A86BFB8-0226-5494-0EF9-2B4F935B37C7}"/>
              </a:ext>
            </a:extLst>
          </p:cNvPr>
          <p:cNvSpPr/>
          <p:nvPr/>
        </p:nvSpPr>
        <p:spPr>
          <a:xfrm>
            <a:off x="11430000" y="6126480"/>
            <a:ext cx="1097280" cy="1097280"/>
          </a:xfrm>
          <a:prstGeom prst="ellipse">
            <a:avLst/>
          </a:prstGeom>
          <a:solidFill>
            <a:srgbClr val="EEB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42DAA6-0C71-52E5-28D3-67B0DEDC1513}"/>
              </a:ext>
            </a:extLst>
          </p:cNvPr>
          <p:cNvSpPr txBox="1"/>
          <p:nvPr/>
        </p:nvSpPr>
        <p:spPr>
          <a:xfrm>
            <a:off x="822960" y="914400"/>
            <a:ext cx="12801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>
                <a:solidFill>
                  <a:srgbClr val="F1B227"/>
                </a:solidFill>
                <a:latin typeface="Aptos"/>
              </a:defRPr>
            </a:pP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F1B2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1B2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1B227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764E5D-F946-0044-2E03-A14F43020B15}"/>
              </a:ext>
            </a:extLst>
          </p:cNvPr>
          <p:cNvSpPr txBox="1"/>
          <p:nvPr/>
        </p:nvSpPr>
        <p:spPr>
          <a:xfrm>
            <a:off x="822960" y="1920240"/>
            <a:ext cx="78638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US" dirty="0"/>
              <a:t>Design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43508-C626-698D-0195-7614CCB3A8EB}"/>
              </a:ext>
            </a:extLst>
          </p:cNvPr>
          <p:cNvSpPr txBox="1"/>
          <p:nvPr/>
        </p:nvSpPr>
        <p:spPr>
          <a:xfrm>
            <a:off x="868680" y="2788920"/>
            <a:ext cx="76809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E2F1F0"/>
                </a:solidFill>
                <a:latin typeface="Aptos"/>
              </a:defRPr>
            </a:pPr>
            <a:r>
              <a:rPr lang="en-US" dirty="0"/>
              <a:t>How </a:t>
            </a:r>
            <a:r>
              <a:rPr lang="en-US" dirty="0" err="1"/>
              <a:t>Shaml</a:t>
            </a:r>
            <a:r>
              <a:rPr lang="en-US" dirty="0"/>
              <a:t>+ translates research into a multi-platform system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B35F9D-994D-BAFE-B5FB-0F0A4D96B4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921240" y="274955"/>
            <a:ext cx="1280160" cy="16452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BF316A-CB5E-8241-65E3-8442484FADF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847262" y="1856740"/>
            <a:ext cx="1428115" cy="40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18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217000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 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Proposed Solution: One Coordinated Ecosystem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0" y="2683408"/>
            <a:ext cx="2057400" cy="2057400"/>
          </a:xfrm>
          <a:prstGeom prst="ellipse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58384" y="3424425"/>
            <a:ext cx="1417320" cy="47548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</a:t>
            </a:r>
            <a:br>
              <a:rPr dirty="0"/>
            </a:br>
            <a:r>
              <a:rPr dirty="0"/>
              <a:t>Unified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677568"/>
            <a:ext cx="3200400" cy="105156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1677568"/>
            <a:ext cx="73152" cy="105156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1787295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Parent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80488"/>
            <a:ext cx="28803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Request visit, track status, messages,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77568"/>
            <a:ext cx="3200400" cy="105156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677568"/>
            <a:ext cx="73152" cy="105156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1787295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Child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180488"/>
            <a:ext cx="28803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Preparation, feelings, rewards, guidance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86528"/>
            <a:ext cx="3200400" cy="105156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4786528"/>
            <a:ext cx="73152" cy="105156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4896256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Admin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5289447"/>
            <a:ext cx="28803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Manage visits, cases, reports, notifications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786528"/>
            <a:ext cx="3200400" cy="105156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60" y="4786528"/>
            <a:ext cx="73152" cy="105156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9328" y="4896256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Smartwatch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5289447"/>
            <a:ext cx="28803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Reminder, mood check, quick help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897880"/>
            <a:ext cx="9875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0">
                <a:solidFill>
                  <a:srgbClr val="5F6770"/>
                </a:solidFill>
                <a:latin typeface="Aptos"/>
              </a:defRPr>
            </a:pPr>
            <a:r>
              <a:t>Shared functions: case IDs • status chips • notifications • health notes • activity logs • role-based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217000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 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Information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104120" cy="41148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ctr">
              <a:defRPr sz="1500" b="0">
                <a:solidFill>
                  <a:srgbClr val="23282D"/>
                </a:solidFill>
                <a:latin typeface="Aptos"/>
              </a:defRPr>
            </a:pPr>
            <a:r>
              <a:rPr dirty="0"/>
              <a:t>The IA organizes three connected experiences plus shared system functions, instead of treating the prototype as separate screens.</a:t>
            </a:r>
          </a:p>
        </p:txBody>
      </p:sp>
      <p:pic>
        <p:nvPicPr>
          <p:cNvPr id="11" name="Picture 10" descr="ia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294" y="1783080"/>
            <a:ext cx="5268931" cy="3977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217000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 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Design System &amp; Color Rationale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2926080" cy="1097280"/>
          </a:xfrm>
          <a:prstGeom prst="roundRect">
            <a:avLst/>
          </a:prstGeom>
          <a:solidFill>
            <a:srgbClr val="E0F4F1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325880"/>
            <a:ext cx="73152" cy="109728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1435607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304C"/>
                </a:solidFill>
                <a:latin typeface="Aptos"/>
              </a:defRPr>
            </a:pPr>
            <a:r>
              <a:t>Teal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828800"/>
            <a:ext cx="26060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82D"/>
                </a:solidFill>
                <a:latin typeface="Aptos"/>
              </a:defRPr>
            </a:pPr>
            <a:r>
              <a:t>Represents trust, safety, official service identity, and calm guidance.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325880"/>
            <a:ext cx="2926080" cy="109728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86200" y="1325880"/>
            <a:ext cx="73152" cy="109728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87368" y="1435607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304C"/>
                </a:solidFill>
                <a:latin typeface="Aptos"/>
              </a:defRPr>
            </a:pPr>
            <a:r>
              <a:t>Gold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1828800"/>
            <a:ext cx="26060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82D"/>
                </a:solidFill>
                <a:latin typeface="Aptos"/>
              </a:defRPr>
            </a:pPr>
            <a:r>
              <a:t>Adds warmth, optimism, family support, and human reassurance.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1325880"/>
            <a:ext cx="2926080" cy="109728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40880" y="1325880"/>
            <a:ext cx="73152" cy="1097280"/>
          </a:xfrm>
          <a:prstGeom prst="rect">
            <a:avLst/>
          </a:prstGeom>
          <a:solidFill>
            <a:srgbClr val="5F6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42048" y="1435607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304C"/>
                </a:solidFill>
                <a:latin typeface="Aptos"/>
              </a:defRPr>
            </a:pPr>
            <a:r>
              <a:t>White / Gray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1828800"/>
            <a:ext cx="26060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82D"/>
                </a:solidFill>
                <a:latin typeface="Aptos"/>
              </a:defRPr>
            </a:pPr>
            <a:r>
              <a:t>Keeps the interface clean, readable, and low-stress for sensitive situations.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017520"/>
            <a:ext cx="2148840" cy="868680"/>
          </a:xfrm>
          <a:prstGeom prst="roundRect">
            <a:avLst/>
          </a:prstGeom>
          <a:solidFill>
            <a:srgbClr val="007B76"/>
          </a:solidFill>
          <a:ln>
            <a:solidFill>
              <a:srgbClr val="C8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977639"/>
            <a:ext cx="214884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150" b="1">
                <a:solidFill>
                  <a:srgbClr val="23282D"/>
                </a:solidFill>
                <a:latin typeface="Aptos"/>
              </a:defRPr>
            </a:pPr>
            <a:r>
              <a:t>Trust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3017520"/>
            <a:ext cx="2148840" cy="868680"/>
          </a:xfrm>
          <a:prstGeom prst="roundRect">
            <a:avLst/>
          </a:prstGeom>
          <a:solidFill>
            <a:srgbClr val="F1B227"/>
          </a:solidFill>
          <a:ln>
            <a:solidFill>
              <a:srgbClr val="C8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66160" y="3977639"/>
            <a:ext cx="214884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150" b="1">
                <a:solidFill>
                  <a:srgbClr val="23282D"/>
                </a:solidFill>
                <a:latin typeface="Aptos"/>
              </a:defRPr>
            </a:pPr>
            <a:r>
              <a:t>Warmth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017520"/>
            <a:ext cx="2148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8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3977639"/>
            <a:ext cx="214884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150" b="1">
                <a:solidFill>
                  <a:srgbClr val="23282D"/>
                </a:solidFill>
                <a:latin typeface="Aptos"/>
              </a:defRPr>
            </a:pPr>
            <a:r>
              <a:t>Clarity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3017520"/>
            <a:ext cx="2148840" cy="868680"/>
          </a:xfrm>
          <a:prstGeom prst="roundRect">
            <a:avLst/>
          </a:prstGeom>
          <a:solidFill>
            <a:srgbClr val="ECF2F2"/>
          </a:solidFill>
          <a:ln>
            <a:solidFill>
              <a:srgbClr val="C8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0" y="3977639"/>
            <a:ext cx="214884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150" b="1">
                <a:solidFill>
                  <a:srgbClr val="23282D"/>
                </a:solidFill>
                <a:latin typeface="Aptos"/>
              </a:defRPr>
            </a:pPr>
            <a:r>
              <a:t>Calm background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66344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1300">
                <a:solidFill>
                  <a:srgbClr val="23282D"/>
                </a:solidFill>
                <a:latin typeface="Aptos"/>
              </a:defRPr>
            </a:pPr>
            <a:r>
              <a:t>Rounded cards reduce visual sharpness and support a friendly tone.</a:t>
            </a:r>
          </a:p>
          <a:p>
            <a:pPr>
              <a:buChar char="•"/>
              <a:defRPr sz="1300">
                <a:solidFill>
                  <a:srgbClr val="23282D"/>
                </a:solidFill>
                <a:latin typeface="Aptos"/>
              </a:defRPr>
            </a:pPr>
            <a:r>
              <a:t>Status chips and clear labels improve visibility of system status.</a:t>
            </a:r>
          </a:p>
          <a:p>
            <a:pPr>
              <a:buChar char="•"/>
              <a:defRPr sz="1300">
                <a:solidFill>
                  <a:srgbClr val="23282D"/>
                </a:solidFill>
                <a:latin typeface="Aptos"/>
              </a:defRPr>
            </a:pPr>
            <a:r>
              <a:t>Consistent navigation across roles lowers cognitive load.</a:t>
            </a:r>
          </a:p>
          <a:p>
            <a:pPr>
              <a:buChar char="•"/>
              <a:defRPr sz="1300">
                <a:solidFill>
                  <a:srgbClr val="23282D"/>
                </a:solidFill>
                <a:latin typeface="Aptos"/>
              </a:defRPr>
            </a:pPr>
            <a:r>
              <a:t>Child screens use friendly visuals, rewards, and simple interaction cues.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217000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 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Parent Mobile App: Clear Visit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9556" y="1581912"/>
            <a:ext cx="5518075" cy="368995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30459" y="1540410"/>
            <a:ext cx="4526280" cy="96012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30459" y="1540410"/>
            <a:ext cx="73152" cy="96012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1627" y="1650138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Main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1627" y="204333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Login, home, my visits, request visit, visit details, request tracking, messages, notifications, services, profile.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0459" y="2820570"/>
            <a:ext cx="4526280" cy="96012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30459" y="2820570"/>
            <a:ext cx="73152" cy="96012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1627" y="2930298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UX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1627" y="332349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Parents can see what happens next instead of relying on repeated calls and messages.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0459" y="4100729"/>
            <a:ext cx="4526280" cy="96012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30459" y="4100729"/>
            <a:ext cx="73152" cy="96012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1627" y="4210458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Sensitive 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1627" y="4603649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Private messaging, status explanations, and confirmation cards reduce uncertainty and direct conflict.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6DA436-795E-707B-C07F-53FA14BDE45D}"/>
              </a:ext>
            </a:extLst>
          </p:cNvPr>
          <p:cNvSpPr txBox="1"/>
          <p:nvPr/>
        </p:nvSpPr>
        <p:spPr>
          <a:xfrm>
            <a:off x="2557403" y="5428481"/>
            <a:ext cx="11583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rPr lang="en-US" sz="1400" b="1" dirty="0">
                <a:solidFill>
                  <a:srgbClr val="FFC000"/>
                </a:solidFill>
                <a:hlinkClick r:id="rId4"/>
              </a:rPr>
              <a:t>Open Figma</a:t>
            </a:r>
            <a:endParaRPr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217000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 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Child Mobile App: Emotional Preparation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7743" y="1959320"/>
            <a:ext cx="5790849" cy="29132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408" y="1540412"/>
            <a:ext cx="4709160" cy="96012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63408" y="1540412"/>
            <a:ext cx="73152" cy="96012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576" y="165014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Design 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576" y="204333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Make the visit more predictable, less stressful, and easier to understand for the child.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408" y="2820572"/>
            <a:ext cx="4709160" cy="96012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63408" y="2820572"/>
            <a:ext cx="73152" cy="96012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4576" y="293030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576" y="33234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Welcome flow, profile selection, upcoming visit, preparation, emotions, voice messages, games, achievements.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408" y="4100731"/>
            <a:ext cx="4709160" cy="960120"/>
          </a:xfrm>
          <a:prstGeom prst="roundRect">
            <a:avLst/>
          </a:prstGeom>
          <a:solidFill>
            <a:srgbClr val="E0F4F1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63408" y="4100731"/>
            <a:ext cx="73152" cy="96012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4576" y="421046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rPr dirty="0"/>
              <a:t>Usability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576" y="4603651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Use bigger text, simpler emotion wording, clearer clickable items, and motivating rewards.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17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38BC94-3274-AF46-A715-6598955F3C38}"/>
              </a:ext>
            </a:extLst>
          </p:cNvPr>
          <p:cNvSpPr txBox="1"/>
          <p:nvPr/>
        </p:nvSpPr>
        <p:spPr>
          <a:xfrm>
            <a:off x="2557403" y="4995859"/>
            <a:ext cx="11583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rPr lang="en-US" sz="1400" b="1" dirty="0">
                <a:solidFill>
                  <a:srgbClr val="FFC000"/>
                </a:solidFill>
                <a:hlinkClick r:id="rId4"/>
              </a:rPr>
              <a:t>Open Figma</a:t>
            </a:r>
            <a:endParaRPr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199367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Admin Dashboard: Operational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8705" y="1435827"/>
            <a:ext cx="5857969" cy="281591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25651" y="1505242"/>
            <a:ext cx="4343400" cy="96012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25651" y="1505242"/>
            <a:ext cx="73152" cy="96012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6819" y="161497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Main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6819" y="200816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Dashboard statistics, visit management, visit details, notifications, system pages, search and filtering.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5651" y="2785402"/>
            <a:ext cx="4343400" cy="96012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25651" y="2785402"/>
            <a:ext cx="73152" cy="96012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6819" y="289513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Operational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6819" y="328832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Case IDs, status chips, filters, activity logs, and validated details reduce errors and repeated manual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25651" y="4065561"/>
            <a:ext cx="4343400" cy="96012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25651" y="4065561"/>
            <a:ext cx="73152" cy="96012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6819" y="417529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Next improvements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6819" y="4568481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Add assigned specialist, visit start/end time, case links, and official holiday settings.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18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66EE184-66BE-5D5D-0029-A8049BEA3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05" y="4339225"/>
            <a:ext cx="5857969" cy="216589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470565E-4A66-0E53-6D12-725B5E185863}"/>
              </a:ext>
            </a:extLst>
          </p:cNvPr>
          <p:cNvSpPr txBox="1"/>
          <p:nvPr/>
        </p:nvSpPr>
        <p:spPr>
          <a:xfrm>
            <a:off x="6431323" y="5693950"/>
            <a:ext cx="11583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rPr lang="en-US" sz="1400" b="1" dirty="0">
                <a:solidFill>
                  <a:srgbClr val="FFC000"/>
                </a:solidFill>
                <a:hlinkClick r:id="rId5"/>
              </a:rPr>
              <a:t>Open Figma</a:t>
            </a:r>
            <a:endParaRPr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B7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13B57-28C4-D24C-F713-329F7B4BB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75A54C-E81D-01F1-7BA1-6948C163FD1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782A27-CE51-67DA-CB23-334490000AAF}"/>
              </a:ext>
            </a:extLst>
          </p:cNvPr>
          <p:cNvSpPr/>
          <p:nvPr/>
        </p:nvSpPr>
        <p:spPr>
          <a:xfrm>
            <a:off x="11201400" y="411480"/>
            <a:ext cx="1645920" cy="1645920"/>
          </a:xfrm>
          <a:prstGeom prst="ellipse">
            <a:avLst/>
          </a:prstGeom>
          <a:solidFill>
            <a:srgbClr val="1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6C603E0-EE9B-183D-22D1-426C410B8326}"/>
              </a:ext>
            </a:extLst>
          </p:cNvPr>
          <p:cNvSpPr/>
          <p:nvPr/>
        </p:nvSpPr>
        <p:spPr>
          <a:xfrm>
            <a:off x="9601200" y="5120640"/>
            <a:ext cx="2377440" cy="2377440"/>
          </a:xfrm>
          <a:prstGeom prst="ellipse">
            <a:avLst/>
          </a:prstGeom>
          <a:solidFill>
            <a:srgbClr val="1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4F6118E-A871-09AF-34BB-E200FD42D257}"/>
              </a:ext>
            </a:extLst>
          </p:cNvPr>
          <p:cNvSpPr/>
          <p:nvPr/>
        </p:nvSpPr>
        <p:spPr>
          <a:xfrm>
            <a:off x="11430000" y="6126480"/>
            <a:ext cx="1097280" cy="1097280"/>
          </a:xfrm>
          <a:prstGeom prst="ellipse">
            <a:avLst/>
          </a:prstGeom>
          <a:solidFill>
            <a:srgbClr val="EEB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574E8-3185-D3FD-D33E-D8DAE289200C}"/>
              </a:ext>
            </a:extLst>
          </p:cNvPr>
          <p:cNvSpPr txBox="1"/>
          <p:nvPr/>
        </p:nvSpPr>
        <p:spPr>
          <a:xfrm>
            <a:off x="822960" y="914400"/>
            <a:ext cx="12801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>
                <a:solidFill>
                  <a:srgbClr val="F1B227"/>
                </a:solidFill>
                <a:latin typeface="Aptos"/>
              </a:defRPr>
            </a:pP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F1B2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1B2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1B227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606E39-BFCC-D7B4-5766-A2886C07BE2C}"/>
              </a:ext>
            </a:extLst>
          </p:cNvPr>
          <p:cNvSpPr txBox="1"/>
          <p:nvPr/>
        </p:nvSpPr>
        <p:spPr>
          <a:xfrm>
            <a:off x="822960" y="1920240"/>
            <a:ext cx="78638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US" dirty="0"/>
              <a:t>Evaluation &amp; Iteration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FE0F3-DF8F-21B4-9582-3267B9F36583}"/>
              </a:ext>
            </a:extLst>
          </p:cNvPr>
          <p:cNvSpPr txBox="1"/>
          <p:nvPr/>
        </p:nvSpPr>
        <p:spPr>
          <a:xfrm>
            <a:off x="868680" y="2788920"/>
            <a:ext cx="76809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E2F1F0"/>
                </a:solidFill>
                <a:latin typeface="Aptos"/>
              </a:defRPr>
            </a:pPr>
            <a:r>
              <a:rPr lang="en-US" dirty="0"/>
              <a:t>How usability testing improved the design direction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0E430A-56E8-3B91-1A7E-E22B9F62AC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921240" y="274955"/>
            <a:ext cx="1280160" cy="16452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4B55B0-8408-0299-B848-E4EB88CB739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847262" y="1856740"/>
            <a:ext cx="1428115" cy="40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701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199367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Usability Testing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739121"/>
            <a:ext cx="3383280" cy="105156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739121"/>
            <a:ext cx="73152" cy="105156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184884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42041"/>
            <a:ext cx="30632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Role-based prototype walkthroughs in Figma.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739121"/>
            <a:ext cx="3383280" cy="105156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1739121"/>
            <a:ext cx="73152" cy="105156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36007" y="184884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Participants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2242041"/>
            <a:ext cx="30632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P1/P2 parent perspectives, C1/C2 child perspectives, A1/A2 admin perspectives.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739121"/>
            <a:ext cx="2971800" cy="1051560"/>
          </a:xfrm>
          <a:prstGeom prst="roundRect">
            <a:avLst/>
          </a:prstGeom>
          <a:solidFill>
            <a:srgbClr val="E0F4F1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79" y="1739121"/>
            <a:ext cx="73152" cy="105156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5048" y="184884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215665"/>
            <a:ext cx="26517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rPr dirty="0"/>
              <a:t>Prototype clarity, task flow, labels, status feedback, and screen comprehension.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659361"/>
            <a:ext cx="237744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" y="3659361"/>
            <a:ext cx="73152" cy="105156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" y="3769089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Task completion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162280"/>
            <a:ext cx="20574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82D"/>
                </a:solidFill>
                <a:latin typeface="Aptos"/>
              </a:defRPr>
            </a:pPr>
            <a:r>
              <a:t>Can users complete the role task?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3659361"/>
            <a:ext cx="237744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0" y="3659361"/>
            <a:ext cx="73152" cy="105156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58768" y="3769089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Clarity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4162280"/>
            <a:ext cx="20574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82D"/>
                </a:solidFill>
                <a:latin typeface="Aptos"/>
              </a:defRPr>
            </a:pPr>
            <a:r>
              <a:t>Are buttons, labels, states understood?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3659361"/>
            <a:ext cx="237744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46520" y="3659361"/>
            <a:ext cx="73152" cy="105156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47688" y="3769089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Trust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7688" y="4162280"/>
            <a:ext cx="20574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82D"/>
                </a:solidFill>
                <a:latin typeface="Aptos"/>
              </a:defRPr>
            </a:pPr>
            <a:r>
              <a:t>Does the interface feel official and safe?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39" y="3659361"/>
            <a:ext cx="237744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235439" y="3659361"/>
            <a:ext cx="73152" cy="105156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36607" y="3769089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Friction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7" y="4162280"/>
            <a:ext cx="20574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82D"/>
                </a:solidFill>
                <a:latin typeface="Aptos"/>
              </a:defRPr>
            </a:pPr>
            <a:r>
              <a:t>Where do users hesitate or need explanation?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532120"/>
            <a:ext cx="102412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50" b="0">
                <a:solidFill>
                  <a:srgbClr val="5F6770"/>
                </a:solidFill>
                <a:latin typeface="Aptos"/>
              </a:defRPr>
            </a:pPr>
            <a:r>
              <a:t>Testing focused on design usability, not final implementation, performance, security, or real back-end integration.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245854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 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Usability Results: What Worked &amp; What Needed Improvement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074920" cy="91440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325880"/>
            <a:ext cx="73152" cy="91440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1435607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Parent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82D"/>
                </a:solidFill>
                <a:latin typeface="Aptos"/>
              </a:defRPr>
            </a:pPr>
            <a:r>
              <a:t>Successful with minor to moderate clarity issues. Ease ratings: 8/10 and 8.5/10.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60320"/>
            <a:ext cx="5074920" cy="91440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560320"/>
            <a:ext cx="73152" cy="91440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6700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Child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0632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82D"/>
                </a:solidFill>
                <a:latin typeface="Aptos"/>
              </a:defRPr>
            </a:pPr>
            <a:r>
              <a:t>Successful and suitable for children, with clearer guidance and larger text needed.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94760"/>
            <a:ext cx="5074920" cy="91440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794760"/>
            <a:ext cx="73152" cy="91440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90448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304C"/>
                </a:solidFill>
                <a:latin typeface="Aptos"/>
              </a:defRPr>
            </a:pPr>
            <a:r>
              <a:t>Admin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97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82D"/>
                </a:solidFill>
                <a:latin typeface="Aptos"/>
              </a:defRPr>
            </a:pPr>
            <a:r>
              <a:t>Successful for operational use; requested more detail in notifications and visit records.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261872"/>
            <a:ext cx="420624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1600" b="1">
                <a:solidFill>
                  <a:srgbClr val="0C304C"/>
                </a:solidFill>
                <a:latin typeface="Aptos"/>
              </a:defRPr>
            </a:pPr>
            <a:r>
              <a:t>Repeated improvement themes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737360"/>
            <a:ext cx="452628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1737360"/>
            <a:ext cx="73152" cy="530352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1847088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C304C"/>
                </a:solidFill>
                <a:latin typeface="Aptos"/>
              </a:defRPr>
            </a:pPr>
            <a:r>
              <a:t>Chat destination unclear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2086239"/>
            <a:ext cx="42062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3282D"/>
                </a:solidFill>
                <a:latin typeface="Aptos"/>
              </a:defRPr>
            </a:pPr>
            <a:r>
              <a:rPr dirty="0"/>
              <a:t>Who is in the conversation?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450591"/>
            <a:ext cx="452628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2450591"/>
            <a:ext cx="73152" cy="53035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01968" y="256032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C304C"/>
                </a:solidFill>
                <a:latin typeface="Aptos"/>
              </a:defRPr>
            </a:pPr>
            <a:r>
              <a:t>Status labels need explanation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2786457"/>
            <a:ext cx="42062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3282D"/>
                </a:solidFill>
                <a:latin typeface="Aptos"/>
              </a:defRPr>
            </a:pPr>
            <a:r>
              <a:rPr dirty="0"/>
              <a:t>What happens next?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163824"/>
            <a:ext cx="452628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0" y="3163824"/>
            <a:ext cx="73152" cy="530352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01968" y="3273552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C304C"/>
                </a:solidFill>
                <a:latin typeface="Aptos"/>
              </a:defRPr>
            </a:pPr>
            <a:r>
              <a:t>Request form feels long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3567216"/>
            <a:ext cx="42062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3282D"/>
                </a:solidFill>
                <a:latin typeface="Aptos"/>
              </a:defRPr>
            </a:pPr>
            <a:r>
              <a:rPr dirty="0"/>
              <a:t>Can it be step-by-step?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877056"/>
            <a:ext cx="452628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0" y="3877056"/>
            <a:ext cx="73152" cy="53035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01968" y="3986784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C304C"/>
                </a:solidFill>
                <a:latin typeface="Aptos"/>
              </a:defRPr>
            </a:pPr>
            <a:r>
              <a:t>Child preparation items unclear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4250904"/>
            <a:ext cx="42062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3282D"/>
                </a:solidFill>
                <a:latin typeface="Aptos"/>
              </a:defRPr>
            </a:pPr>
            <a:r>
              <a:rPr dirty="0"/>
              <a:t>Clickable or informational?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590288"/>
            <a:ext cx="452628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0" y="4590288"/>
            <a:ext cx="73152" cy="530352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01968" y="4700016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C304C"/>
                </a:solidFill>
                <a:latin typeface="Aptos"/>
              </a:defRPr>
            </a:pPr>
            <a:r>
              <a:t>Admin notifications need details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4987349"/>
            <a:ext cx="42062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3282D"/>
                </a:solidFill>
                <a:latin typeface="Aptos"/>
              </a:defRPr>
            </a:pPr>
            <a:r>
              <a:rPr dirty="0"/>
              <a:t>Start/end time, case link, holidays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199367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Iteration 2: Prioritized Improvement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1689880"/>
            <a:ext cx="507492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1689880"/>
            <a:ext cx="73152" cy="123444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179960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Priority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192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Clarify chat participants, add status explanations, add View Details in notifications.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89880"/>
            <a:ext cx="507492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689880"/>
            <a:ext cx="73152" cy="123444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179960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Priority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192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Split visit request into steps, show available slots, explain child-note sharing.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81520"/>
            <a:ext cx="507492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381520"/>
            <a:ext cx="73152" cy="123444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" y="34912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Priority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884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Increase small text, simplify child emotion wording, add checklist behavior and reward feedback.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381520"/>
            <a:ext cx="507492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381520"/>
            <a:ext cx="73152" cy="123444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7" y="349124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Priority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3884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Add official admin login, specialist assignment, case links, and holiday settings.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57800"/>
            <a:ext cx="10424160" cy="5486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1600" b="1">
                <a:solidFill>
                  <a:srgbClr val="0C304C"/>
                </a:solidFill>
                <a:latin typeface="Aptos"/>
              </a:defRPr>
            </a:pPr>
            <a:r>
              <a:t>The main improvement direction is not a full redesign; it is stronger microcopy, clearer states, and more complete operational context.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B7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9A02B8-01F3-E701-2222-C8554639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BB1E51-8F16-1DF3-3315-4A49DECA7ED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EDB5FF3-D286-C4AD-901D-1C1A997EEE92}"/>
              </a:ext>
            </a:extLst>
          </p:cNvPr>
          <p:cNvSpPr/>
          <p:nvPr/>
        </p:nvSpPr>
        <p:spPr>
          <a:xfrm>
            <a:off x="11201400" y="411480"/>
            <a:ext cx="1645920" cy="1645920"/>
          </a:xfrm>
          <a:prstGeom prst="ellipse">
            <a:avLst/>
          </a:prstGeom>
          <a:solidFill>
            <a:srgbClr val="1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25AEE3-58A2-BC29-5E66-30145FC26A46}"/>
              </a:ext>
            </a:extLst>
          </p:cNvPr>
          <p:cNvSpPr/>
          <p:nvPr/>
        </p:nvSpPr>
        <p:spPr>
          <a:xfrm>
            <a:off x="9601200" y="5120640"/>
            <a:ext cx="2377440" cy="2377440"/>
          </a:xfrm>
          <a:prstGeom prst="ellipse">
            <a:avLst/>
          </a:prstGeom>
          <a:solidFill>
            <a:srgbClr val="1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6482F5B-BF46-BE3A-78F1-08F6B556C07A}"/>
              </a:ext>
            </a:extLst>
          </p:cNvPr>
          <p:cNvSpPr/>
          <p:nvPr/>
        </p:nvSpPr>
        <p:spPr>
          <a:xfrm>
            <a:off x="11430000" y="6126480"/>
            <a:ext cx="1097280" cy="1097280"/>
          </a:xfrm>
          <a:prstGeom prst="ellipse">
            <a:avLst/>
          </a:prstGeom>
          <a:solidFill>
            <a:srgbClr val="EEB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6B27CF-C250-0BA0-3E32-35EA3C798F20}"/>
              </a:ext>
            </a:extLst>
          </p:cNvPr>
          <p:cNvSpPr txBox="1"/>
          <p:nvPr/>
        </p:nvSpPr>
        <p:spPr>
          <a:xfrm>
            <a:off x="822960" y="914400"/>
            <a:ext cx="12801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>
                <a:solidFill>
                  <a:srgbClr val="F1B227"/>
                </a:solidFill>
                <a:latin typeface="Aptos"/>
              </a:defRPr>
            </a:pP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F1B2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1B2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1B227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F052C0-0C63-9F7B-BCDF-5AA1CB7E0345}"/>
              </a:ext>
            </a:extLst>
          </p:cNvPr>
          <p:cNvSpPr txBox="1"/>
          <p:nvPr/>
        </p:nvSpPr>
        <p:spPr>
          <a:xfrm>
            <a:off x="822960" y="1920240"/>
            <a:ext cx="78638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US" dirty="0"/>
              <a:t>HCI Principles, Ethics &amp; Impact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BB2412-98FD-5DBC-3B1C-CB2E41ACFD59}"/>
              </a:ext>
            </a:extLst>
          </p:cNvPr>
          <p:cNvSpPr txBox="1"/>
          <p:nvPr/>
        </p:nvSpPr>
        <p:spPr>
          <a:xfrm>
            <a:off x="868680" y="2788920"/>
            <a:ext cx="76809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E2F1F0"/>
                </a:solidFill>
                <a:latin typeface="Aptos"/>
              </a:defRPr>
            </a:pPr>
            <a:r>
              <a:rPr lang="en-US" dirty="0"/>
              <a:t>Why the design is appropriate for a sensitive family-service context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E8AE99-CB35-81DF-01AD-B32B294A9B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921240" y="274955"/>
            <a:ext cx="1280160" cy="16452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3CED9C-24EB-BAE2-7518-7F96C29DFA5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847262" y="1856740"/>
            <a:ext cx="1428115" cy="40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45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245854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 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HCI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HCI Principles Applied in Shaml+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800667"/>
            <a:ext cx="3246120" cy="109728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800667"/>
            <a:ext cx="73152" cy="109728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1910394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Visibility of system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03587"/>
            <a:ext cx="292607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Visit cards, request tracking, status chips, dashboard statistics.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800667"/>
            <a:ext cx="3246120" cy="109728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1800667"/>
            <a:ext cx="73152" cy="109728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27448" y="1910394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Match with real 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303587"/>
            <a:ext cx="292607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Simple Arabic wording and familiar appointment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800667"/>
            <a:ext cx="3246120" cy="109728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1040" y="1800667"/>
            <a:ext cx="73152" cy="109728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22208" y="1910394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Error prevention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303587"/>
            <a:ext cx="292607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Case IDs, structured forms, health notes, validation, review steps.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355147"/>
            <a:ext cx="3246120" cy="109728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355147"/>
            <a:ext cx="73152" cy="109728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3464875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Recognition rather than 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858067"/>
            <a:ext cx="292607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Reminders, request history, saved details, child profiles.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355147"/>
            <a:ext cx="3246120" cy="109728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26280" y="3355147"/>
            <a:ext cx="73152" cy="109728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3464875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Consistency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3858067"/>
            <a:ext cx="292607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Repeated cards, navigation, buttons, and status components.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3355147"/>
            <a:ext cx="3246120" cy="109728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21040" y="3355147"/>
            <a:ext cx="73152" cy="109728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22208" y="3464875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04C"/>
                </a:solidFill>
                <a:latin typeface="Aptos"/>
              </a:defRPr>
            </a:pPr>
            <a:r>
              <a:t>Help &amp; guidance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3858067"/>
            <a:ext cx="292607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82D"/>
                </a:solidFill>
                <a:latin typeface="Aptos"/>
              </a:defRPr>
            </a:pPr>
            <a:r>
              <a:t>Support services, preparation, instructions, quick help.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245854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 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HCI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Ethics, Accessibility &amp; Safety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5120640" cy="2560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20" b="1">
                <a:solidFill>
                  <a:srgbClr val="0C304C"/>
                </a:solidFill>
                <a:latin typeface="Aptos"/>
              </a:defRPr>
            </a:pPr>
            <a:r>
              <a:rPr dirty="0"/>
              <a:t>Ethical safeguards</a:t>
            </a:r>
          </a:p>
          <a:p>
            <a:pPr>
              <a:buChar char="•"/>
              <a:defRPr sz="1320">
                <a:solidFill>
                  <a:srgbClr val="23282D"/>
                </a:solidFill>
                <a:latin typeface="Aptos"/>
              </a:defRPr>
            </a:pPr>
            <a:r>
              <a:rPr dirty="0"/>
              <a:t>No private family names, legal case IDs, or identifiable beneficiary details are included.</a:t>
            </a:r>
            <a:endParaRPr lang="en-US" dirty="0"/>
          </a:p>
          <a:p>
            <a:pPr>
              <a:defRPr sz="1320">
                <a:solidFill>
                  <a:srgbClr val="23282D"/>
                </a:solidFill>
                <a:latin typeface="Aptos"/>
              </a:defRPr>
            </a:pPr>
            <a:endParaRPr dirty="0"/>
          </a:p>
          <a:p>
            <a:pPr>
              <a:buChar char="•"/>
              <a:defRPr sz="1320">
                <a:solidFill>
                  <a:srgbClr val="23282D"/>
                </a:solidFill>
                <a:latin typeface="Aptos"/>
              </a:defRPr>
            </a:pPr>
            <a:r>
              <a:rPr dirty="0"/>
              <a:t>Children are represented indirectly in the research phase to avoid unnecessary emotional exposure.</a:t>
            </a:r>
            <a:endParaRPr lang="en-US" dirty="0"/>
          </a:p>
          <a:p>
            <a:pPr>
              <a:defRPr sz="1320">
                <a:solidFill>
                  <a:srgbClr val="23282D"/>
                </a:solidFill>
                <a:latin typeface="Aptos"/>
              </a:defRPr>
            </a:pPr>
            <a:endParaRPr dirty="0"/>
          </a:p>
          <a:p>
            <a:pPr>
              <a:buChar char="•"/>
              <a:defRPr sz="1320">
                <a:solidFill>
                  <a:srgbClr val="23282D"/>
                </a:solidFill>
                <a:latin typeface="Aptos"/>
              </a:defRPr>
            </a:pPr>
            <a:r>
              <a:rPr dirty="0"/>
              <a:t>Privacy-aware microcopy explains who can see messages, notes, and visit details.</a:t>
            </a:r>
            <a:endParaRPr lang="en-US" dirty="0"/>
          </a:p>
          <a:p>
            <a:pPr>
              <a:defRPr sz="1320">
                <a:solidFill>
                  <a:srgbClr val="23282D"/>
                </a:solidFill>
                <a:latin typeface="Aptos"/>
              </a:defRPr>
            </a:pPr>
            <a:endParaRPr dirty="0"/>
          </a:p>
          <a:p>
            <a:pPr>
              <a:buChar char="•"/>
              <a:defRPr sz="1320">
                <a:solidFill>
                  <a:srgbClr val="23282D"/>
                </a:solidFill>
                <a:latin typeface="Aptos"/>
              </a:defRPr>
            </a:pPr>
            <a:r>
              <a:rPr dirty="0"/>
              <a:t>Design avoids dark patterns and persuasive pressure in sensitive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663440" cy="1748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20" b="1">
                <a:solidFill>
                  <a:srgbClr val="0C304C"/>
                </a:solidFill>
                <a:latin typeface="Aptos"/>
              </a:defRPr>
            </a:pPr>
            <a:r>
              <a:rPr dirty="0"/>
              <a:t>Accessibility responses</a:t>
            </a:r>
          </a:p>
          <a:p>
            <a:pPr>
              <a:buChar char="•"/>
              <a:defRPr sz="1320">
                <a:solidFill>
                  <a:srgbClr val="23282D"/>
                </a:solidFill>
                <a:latin typeface="Aptos"/>
              </a:defRPr>
            </a:pPr>
            <a:r>
              <a:rPr dirty="0"/>
              <a:t>Simple wording for stressed users.</a:t>
            </a:r>
            <a:endParaRPr lang="en-US" dirty="0"/>
          </a:p>
          <a:p>
            <a:pPr>
              <a:defRPr sz="1320">
                <a:solidFill>
                  <a:srgbClr val="23282D"/>
                </a:solidFill>
                <a:latin typeface="Aptos"/>
              </a:defRPr>
            </a:pPr>
            <a:endParaRPr dirty="0"/>
          </a:p>
          <a:p>
            <a:pPr>
              <a:buChar char="•"/>
              <a:defRPr sz="1320">
                <a:solidFill>
                  <a:srgbClr val="23282D"/>
                </a:solidFill>
                <a:latin typeface="Aptos"/>
              </a:defRPr>
            </a:pPr>
            <a:r>
              <a:rPr dirty="0"/>
              <a:t>Larger text and clearer cues for children.</a:t>
            </a:r>
            <a:endParaRPr lang="en-US" dirty="0"/>
          </a:p>
          <a:p>
            <a:pPr>
              <a:defRPr sz="1320">
                <a:solidFill>
                  <a:srgbClr val="23282D"/>
                </a:solidFill>
                <a:latin typeface="Aptos"/>
              </a:defRPr>
            </a:pPr>
            <a:endParaRPr dirty="0"/>
          </a:p>
          <a:p>
            <a:pPr>
              <a:buChar char="•"/>
              <a:defRPr sz="1320">
                <a:solidFill>
                  <a:srgbClr val="23282D"/>
                </a:solidFill>
                <a:latin typeface="Aptos"/>
              </a:defRPr>
            </a:pPr>
            <a:r>
              <a:rPr dirty="0"/>
              <a:t>Calm colors and low visual noise.</a:t>
            </a:r>
            <a:endParaRPr lang="en-US" dirty="0"/>
          </a:p>
          <a:p>
            <a:pPr>
              <a:defRPr sz="1320">
                <a:solidFill>
                  <a:srgbClr val="23282D"/>
                </a:solidFill>
                <a:latin typeface="Aptos"/>
              </a:defRPr>
            </a:pPr>
            <a:endParaRPr dirty="0"/>
          </a:p>
          <a:p>
            <a:pPr>
              <a:buChar char="•"/>
              <a:defRPr sz="1320">
                <a:solidFill>
                  <a:srgbClr val="23282D"/>
                </a:solidFill>
                <a:latin typeface="Aptos"/>
              </a:defRPr>
            </a:pPr>
            <a:r>
              <a:rPr dirty="0"/>
              <a:t>Role-based visibility and activity logs for accountability.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983480"/>
            <a:ext cx="10058400" cy="822960"/>
          </a:xfrm>
          <a:prstGeom prst="roundRect">
            <a:avLst/>
          </a:prstGeom>
          <a:solidFill>
            <a:srgbClr val="E0F4F1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" y="4983480"/>
            <a:ext cx="73152" cy="82296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07008" y="5093208"/>
            <a:ext cx="9738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Important principle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5486400"/>
            <a:ext cx="9738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82D"/>
                </a:solidFill>
                <a:latin typeface="Aptos"/>
              </a:defRPr>
            </a:pPr>
            <a:r>
              <a:t>In a family-visitation system, usability is also emotional safety: users need clarity, reassurance, and controlled information sharing.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201400" cy="13716"/>
          </a:xfrm>
          <a:prstGeom prst="rect">
            <a:avLst/>
          </a:prstGeom>
          <a:solidFill>
            <a:srgbClr val="DC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92824"/>
            <a:ext cx="1199367" cy="192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  <a:latin typeface="Aptos"/>
              </a:defRPr>
            </a:pPr>
            <a:r>
              <a:rPr dirty="0" err="1"/>
              <a:t>Shaml</a:t>
            </a:r>
            <a:r>
              <a:rPr dirty="0"/>
              <a:t>+ | Graduation Project</a:t>
            </a:r>
          </a:p>
        </p:txBody>
      </p:sp>
      <p:pic>
        <p:nvPicPr>
          <p:cNvPr id="6" name="Picture 5" descr="shaml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960120" cy="1491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56032"/>
            <a:ext cx="1508760" cy="310896"/>
          </a:xfrm>
          <a:prstGeom prst="roundRect">
            <a:avLst/>
          </a:prstGeom>
          <a:solidFill>
            <a:srgbClr val="E0F4F1"/>
          </a:solidFill>
          <a:ln>
            <a:solidFill>
              <a:srgbClr val="BEE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7B7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C304C"/>
                </a:solidFill>
                <a:latin typeface="Aptos Display"/>
              </a:defRPr>
            </a:pPr>
            <a:r>
              <a:t>Conclusion: Shaml+ Project Contribution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152144"/>
            <a:ext cx="713232" cy="54864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1742641"/>
            <a:ext cx="5074920" cy="105156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1742641"/>
            <a:ext cx="73152" cy="105156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1852369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Unified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245561"/>
            <a:ext cx="47548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82D"/>
                </a:solidFill>
                <a:latin typeface="Aptos"/>
              </a:defRPr>
            </a:pPr>
            <a:r>
              <a:t>Connects parent, child, admin, and smartwatch flows around the same visit lifecycle.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42641"/>
            <a:ext cx="5074920" cy="105156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742641"/>
            <a:ext cx="73152" cy="105156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1852369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Child-centered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245561"/>
            <a:ext cx="47548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82D"/>
                </a:solidFill>
                <a:latin typeface="Aptos"/>
              </a:defRPr>
            </a:pPr>
            <a:r>
              <a:t>Adds preparation, mood, rewards, and simple guidance instead of focusing only on parent/admin workflows.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51401"/>
            <a:ext cx="5074920" cy="1051560"/>
          </a:xfrm>
          <a:prstGeom prst="roundRect">
            <a:avLst/>
          </a:prstGeom>
          <a:solidFill>
            <a:srgbClr val="F6F9F9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251401"/>
            <a:ext cx="73152" cy="1051560"/>
          </a:xfrm>
          <a:prstGeom prst="rect">
            <a:avLst/>
          </a:prstGeom>
          <a:solidFill>
            <a:srgbClr val="007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" y="3361129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Operational clarity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754321"/>
            <a:ext cx="47548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82D"/>
                </a:solidFill>
                <a:latin typeface="Aptos"/>
              </a:defRPr>
            </a:pPr>
            <a:r>
              <a:t>Improves status visibility, case tracking, and staff decision support.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251401"/>
            <a:ext cx="5074920" cy="1051560"/>
          </a:xfrm>
          <a:prstGeom prst="roundRect">
            <a:avLst/>
          </a:prstGeom>
          <a:solidFill>
            <a:srgbClr val="FFF5D8"/>
          </a:solidFill>
          <a:ln w="8890">
            <a:solidFill>
              <a:srgbClr val="E1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251401"/>
            <a:ext cx="73152" cy="105156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7" y="3361129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304C"/>
                </a:solidFill>
                <a:latin typeface="Aptos"/>
              </a:defRPr>
            </a:pPr>
            <a:r>
              <a:t>Evidence-based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3754321"/>
            <a:ext cx="47548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82D"/>
                </a:solidFill>
                <a:latin typeface="Aptos"/>
              </a:defRPr>
            </a:pPr>
            <a:r>
              <a:t>Research findings, journey analysis, and usability testing guide each iteration.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12080"/>
            <a:ext cx="10058400" cy="45720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ctr">
              <a:defRPr sz="1800" b="1">
                <a:solidFill>
                  <a:srgbClr val="0C304C"/>
                </a:solidFill>
                <a:latin typeface="Aptos"/>
              </a:defRPr>
            </a:pPr>
            <a:r>
              <a:t>Shaml+ turns a fragmented, stressful external visitation process into a guided, role-based digital journey.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601968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F6770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B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1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0" y="3703320"/>
            <a:ext cx="6309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4553712"/>
            <a:ext cx="6309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E1F5F3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08076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DFF4F2"/>
                </a:solidFill>
                <a:latin typeface="Aptos"/>
              </a:defRPr>
            </a:pPr>
            <a:r>
              <a:t>Shaml+ - A User-Centered Digital System for External Child Visits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132C46-E0DF-53FA-DA49-C92B8D1821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089155" y="-361740"/>
            <a:ext cx="2013690" cy="26982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C65270-2B39-1B25-E03B-7BF63C90F60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038129" y="2336544"/>
            <a:ext cx="2115741" cy="5943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0A8BE1-F49E-DDDC-59CB-656EE3C7EEF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881846" y="2994403"/>
            <a:ext cx="2489267" cy="7089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1956</Words>
  <Application>Microsoft Office PowerPoint</Application>
  <PresentationFormat>Widescreen</PresentationFormat>
  <Paragraphs>328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Mohamed sherif</dc:creator>
  <cp:keywords/>
  <dc:description>generated using python-pptx</dc:description>
  <cp:lastModifiedBy>لينا عبدالله محمد الاسمري</cp:lastModifiedBy>
  <cp:revision>8</cp:revision>
  <dcterms:created xsi:type="dcterms:W3CDTF">2013-01-27T09:14:16Z</dcterms:created>
  <dcterms:modified xsi:type="dcterms:W3CDTF">2026-09-28T19:06:40Z</dcterms:modified>
  <cp:category/>
</cp:coreProperties>
</file>